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640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39.png"/><Relationship Id="rId17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42.png"/><Relationship Id="rId23" Type="http://schemas.openxmlformats.org/officeDocument/2006/relationships/image" Target="../media/image41.png"/><Relationship Id="rId2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3DE37026-3506-42D1-953A-E7671495A4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326897"/>
                  </p:ext>
                </p:extLst>
              </p:nvPr>
            </p:nvGraphicFramePr>
            <p:xfrm>
              <a:off x="756920" y="613709"/>
              <a:ext cx="5339080" cy="587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9350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9350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all nodes considered in the routing problem.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3DE37026-3506-42D1-953A-E7671495A4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326897"/>
                  </p:ext>
                </p:extLst>
              </p:nvPr>
            </p:nvGraphicFramePr>
            <p:xfrm>
              <a:off x="756920" y="613709"/>
              <a:ext cx="5339080" cy="587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9350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9350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1"/>
                          <a:stretch>
                            <a:fillRect l="-365" t="-106250" r="-220803" b="-2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 of all nodes considered in the routing problem.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FE8A0D-982A-46AF-BFB3-2BDB5C2F2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250948"/>
                  </p:ext>
                </p:extLst>
              </p:nvPr>
            </p:nvGraphicFramePr>
            <p:xfrm>
              <a:off x="756920" y="1639883"/>
              <a:ext cx="5339080" cy="1137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 representing the entrance node.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Indices representing nodes in the routing network.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=1,2,…,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FE8A0D-982A-46AF-BFB3-2BDB5C2F2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250948"/>
                  </p:ext>
                </p:extLst>
              </p:nvPr>
            </p:nvGraphicFramePr>
            <p:xfrm>
              <a:off x="756920" y="1639883"/>
              <a:ext cx="5339080" cy="1137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489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2"/>
                          <a:stretch>
                            <a:fillRect l="-365" t="-114634" r="-220803" b="-26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 representing the entrance node.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2"/>
                          <a:stretch>
                            <a:fillRect l="-365" t="-83810" r="-22080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2"/>
                          <a:stretch>
                            <a:fillRect l="-45681" t="-83810" r="-498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6E5F5ED-AA43-4F52-BDEC-3B2D4EE86D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651206"/>
                  </p:ext>
                </p:extLst>
              </p:nvPr>
            </p:nvGraphicFramePr>
            <p:xfrm>
              <a:off x="756920" y="3087725"/>
              <a:ext cx="5339080" cy="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Number of Zone nodes to be visited.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Distance from node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 node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6E5F5ED-AA43-4F52-BDEC-3B2D4EE86D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651206"/>
                  </p:ext>
                </p:extLst>
              </p:nvPr>
            </p:nvGraphicFramePr>
            <p:xfrm>
              <a:off x="756920" y="3087725"/>
              <a:ext cx="5339080" cy="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489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7"/>
                          <a:stretch>
                            <a:fillRect l="-365" t="-114634" r="-220803" b="-178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Number of Zone nodes to be visited.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365" t="-123944" r="-220803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45681" t="-123944" r="-498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2F92763-5658-4003-8054-EFC4B7A47B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522405"/>
                  </p:ext>
                </p:extLst>
              </p:nvPr>
            </p:nvGraphicFramePr>
            <p:xfrm>
              <a:off x="756920" y="4470247"/>
              <a:ext cx="5339080" cy="13598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2489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1,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0,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If the route directly moves from node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 node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Otherwise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Visit sequence of Zone node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2F92763-5658-4003-8054-EFC4B7A47B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522405"/>
                  </p:ext>
                </p:extLst>
              </p:nvPr>
            </p:nvGraphicFramePr>
            <p:xfrm>
              <a:off x="756920" y="4470247"/>
              <a:ext cx="5339080" cy="13598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002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3669078">
                      <a:extLst>
                        <a:ext uri="{9D8B030D-6E8A-4147-A177-3AD203B41FA5}">
                          <a16:colId xmlns:a16="http://schemas.microsoft.com/office/drawing/2014/main" val="1794154035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Definition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68116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3"/>
                          <a:stretch>
                            <a:fillRect l="-365" t="-41964" r="-220803" b="-651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3"/>
                          <a:stretch>
                            <a:fillRect l="-45681" t="-41964" r="-498" b="-651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789076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3"/>
                          <a:stretch>
                            <a:fillRect l="-365" t="-223944" r="-220803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3"/>
                          <a:stretch>
                            <a:fillRect l="-45681" t="-223944" r="-498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1C60B6EA-A61D-41D7-94B6-6660DDF76E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662779"/>
                  </p:ext>
                </p:extLst>
              </p:nvPr>
            </p:nvGraphicFramePr>
            <p:xfrm>
              <a:off x="6501937" y="622420"/>
              <a:ext cx="5339078" cy="5207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7590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2004291">
                      <a:extLst>
                        <a:ext uri="{9D8B030D-6E8A-4147-A177-3AD203B41FA5}">
                          <a16:colId xmlns:a16="http://schemas.microsoft.com/office/drawing/2014/main" val="2796061095"/>
                        </a:ext>
                      </a:extLst>
                    </a:gridCol>
                    <a:gridCol w="1385455">
                      <a:extLst>
                        <a:ext uri="{9D8B030D-6E8A-4147-A177-3AD203B41FA5}">
                          <a16:colId xmlns:a16="http://schemas.microsoft.com/office/drawing/2014/main" val="2695580215"/>
                        </a:ext>
                      </a:extLst>
                    </a:gridCol>
                    <a:gridCol w="341742">
                      <a:extLst>
                        <a:ext uri="{9D8B030D-6E8A-4147-A177-3AD203B41FA5}">
                          <a16:colId xmlns:a16="http://schemas.microsoft.com/office/drawing/2014/main" val="3547028857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Mathematical Model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𝑀𝑖𝑛𝑖𝑚𝑖𝑧𝑒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eqArr>
                                          <m:eqArrPr>
                                            <m:ctrlP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</m:t>
                                            </m:r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≠</m:t>
                                            </m:r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eqAr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Subject to 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2723212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3552445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eqArr>
                                      <m:eqArr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e>
                                    </m:eqAr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863647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eqArr>
                                      <m:eqArr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eqAr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3639157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923080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ko-KR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latinLnBrk="1"/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ko-KR" altLang="en-US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(7)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9638576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1,2,…,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ko-KR" sz="1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(8)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0485020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∈{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0,1}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∀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(9)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745130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1C60B6EA-A61D-41D7-94B6-6660DDF76E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662779"/>
                  </p:ext>
                </p:extLst>
              </p:nvPr>
            </p:nvGraphicFramePr>
            <p:xfrm>
              <a:off x="6501937" y="622420"/>
              <a:ext cx="5339078" cy="5207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7590">
                      <a:extLst>
                        <a:ext uri="{9D8B030D-6E8A-4147-A177-3AD203B41FA5}">
                          <a16:colId xmlns:a16="http://schemas.microsoft.com/office/drawing/2014/main" val="2059265011"/>
                        </a:ext>
                      </a:extLst>
                    </a:gridCol>
                    <a:gridCol w="2004291">
                      <a:extLst>
                        <a:ext uri="{9D8B030D-6E8A-4147-A177-3AD203B41FA5}">
                          <a16:colId xmlns:a16="http://schemas.microsoft.com/office/drawing/2014/main" val="2796061095"/>
                        </a:ext>
                      </a:extLst>
                    </a:gridCol>
                    <a:gridCol w="1385455">
                      <a:extLst>
                        <a:ext uri="{9D8B030D-6E8A-4147-A177-3AD203B41FA5}">
                          <a16:colId xmlns:a16="http://schemas.microsoft.com/office/drawing/2014/main" val="2695580215"/>
                        </a:ext>
                      </a:extLst>
                    </a:gridCol>
                    <a:gridCol w="341742">
                      <a:extLst>
                        <a:ext uri="{9D8B030D-6E8A-4147-A177-3AD203B41FA5}">
                          <a16:colId xmlns:a16="http://schemas.microsoft.com/office/drawing/2014/main" val="3547028857"/>
                        </a:ext>
                      </a:extLst>
                    </a:gridCol>
                  </a:tblGrid>
                  <a:tr h="2489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Mathematical Model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8350"/>
                      </a:ext>
                    </a:extLst>
                  </a:tr>
                  <a:tr h="69164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Objectives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4"/>
                          <a:stretch>
                            <a:fillRect l="-80547" t="-110619" r="-86930" b="-622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1297369"/>
                      </a:ext>
                    </a:extLst>
                  </a:tr>
                  <a:tr h="60661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Subject to 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238000" r="-86930" b="-603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2723212"/>
                      </a:ext>
                    </a:extLst>
                  </a:tr>
                  <a:tr h="58248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352083" r="-86930" b="-5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3552445"/>
                      </a:ext>
                    </a:extLst>
                  </a:tr>
                  <a:tr h="66751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398165" r="-86930" b="-365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398165" r="-25439" b="-365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863647"/>
                      </a:ext>
                    </a:extLst>
                  </a:tr>
                  <a:tr h="69164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476316" r="-86930" b="-24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476316" r="-25439" b="-2491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3639157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938571" r="-86930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938571" r="-25439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8923080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1023944" r="-86930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1023944" r="-25439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(7)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9638576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1140000" r="-86930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1140000" r="-25439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(8)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0485020"/>
                      </a:ext>
                    </a:extLst>
                  </a:tr>
                  <a:tr h="42969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80547" t="-1222535" r="-86930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24"/>
                          <a:stretch>
                            <a:fillRect l="-260526" t="-1222535" r="-25439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(9)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745130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700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201</Words>
  <Application>Microsoft Office PowerPoint</Application>
  <PresentationFormat>와이드스크린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Times New Roman</vt:lpstr>
      <vt:lpstr>Office Theme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Zone 방문 경로 최적화 모델</dc:title>
  <dc:subject>Zone 방문 경로 최적화 수식 모델</dc:subject>
  <dc:creator>OpenAI</dc:creator>
  <cp:lastModifiedBy>정선웅(Sunwoong JUNG)/AX Solution서비스2팀/SK</cp:lastModifiedBy>
  <cp:revision>11</cp:revision>
  <dcterms:created xsi:type="dcterms:W3CDTF">2026-07-03T05:33:45Z</dcterms:created>
  <dcterms:modified xsi:type="dcterms:W3CDTF">2026-07-03T14:29:10Z</dcterms:modified>
</cp:coreProperties>
</file>