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344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WAREHOUSE OPERATIONS COPILOT · POC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002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Smart WMS Agent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26060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D8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자연어로 묻고 · 데이터로 계산하고 · 승인으로 실행한다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3337560"/>
            <a:ext cx="2377440" cy="502920"/>
          </a:xfrm>
          <a:prstGeom prst="roundRect">
            <a:avLst>
              <a:gd name="adj" fmla="val 21818"/>
            </a:avLst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337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“오늘 뭐 해야 돼?”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0" y="33375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0BEC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피킹 · 적치 · 재고 리스크 · 출고확정까지 한 번에 답하는 Agentic AI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45262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창고 운영자를 위한 Agentic AI 서비스 기획  ·  2026.06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서비스인가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749040" cy="3291840"/>
          </a:xfrm>
          <a:prstGeom prst="roundRect">
            <a:avLst>
              <a:gd name="adj" fmla="val 2222"/>
            </a:avLst>
          </a:prstGeom>
          <a:solidFill>
            <a:srgbClr val="F4F6F7"/>
          </a:solidFill>
          <a:ln/>
        </p:spPr>
      </p:sp>
      <p:sp>
        <p:nvSpPr>
          <p:cNvPr id="5" name="Shape 3"/>
          <p:cNvSpPr/>
          <p:nvPr/>
        </p:nvSpPr>
        <p:spPr>
          <a:xfrm>
            <a:off x="1737360" y="1554480"/>
            <a:ext cx="2194560" cy="411480"/>
          </a:xfrm>
          <a:prstGeom prst="roundRect">
            <a:avLst>
              <a:gd name="adj" fmla="val 22222"/>
            </a:avLst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1737360" y="1554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뭐 해야 돼?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" y="2148840"/>
            <a:ext cx="329184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228600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우선 처리할 업무는 3건입니다.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ORD001 피킹 지시 — 10:30 시작 권장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SKU_A001 재고 부족 예상 — HIGH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INB003 적치 필요 — Zone A 추천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출고예정·재고·정책 문서 기반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617720" y="1325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Agent가 한 번에 종합하는 5가지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17720" y="1819656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1819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74920" y="173736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피킹지시가 필요한 출고예정 건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출고시간 기준 우선순위·시작시간 포함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17720" y="2404872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4617720" y="2404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74920" y="232257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적치가 필요한 입고 건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입고예정·적치대기 상태 기준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17720" y="2990088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2990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74920" y="290779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부족 예상 품목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출고이력 기반 소진일 예측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617720" y="3575304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4617720" y="35753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74920" y="349300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출고확정대기 건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피킹·패킹 완료 후 확정 대상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617720" y="4160520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4617720" y="4160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74920" y="407822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SOP 기준 예외 상황 대응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재고부족·CAPA부족 등 표준 대응안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FEATURES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 6가지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79192" cy="1481328"/>
          </a:xfrm>
          <a:prstGeom prst="roundRect">
            <a:avLst>
              <a:gd name="adj" fmla="val 4321"/>
            </a:avLst>
          </a:prstGeom>
          <a:solidFill>
            <a:srgbClr val="EDF5F6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517904"/>
            <a:ext cx="22768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할 일 요약</a:t>
            </a:r>
            <a:endParaRPr lang="en-US" sz="1450" dirty="0"/>
          </a:p>
          <a:p>
            <a:pPr indent="0" marL="0">
              <a:buNone/>
            </a:pPr>
            <a:endParaRPr lang="en-US" sz="1450" dirty="0"/>
          </a:p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미지시 출고, 적치대기, 재고 위험, 출고확정대기를 한 번에 종합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3328416" y="1371600"/>
            <a:ext cx="2679192" cy="1481328"/>
          </a:xfrm>
          <a:prstGeom prst="roundRect">
            <a:avLst>
              <a:gd name="adj" fmla="val 4321"/>
            </a:avLst>
          </a:prstGeom>
          <a:solidFill>
            <a:srgbClr val="F4F6F7"/>
          </a:solidFill>
          <a:ln/>
        </p:spPr>
      </p:sp>
      <p:sp>
        <p:nvSpPr>
          <p:cNvPr id="7" name="Text 5"/>
          <p:cNvSpPr/>
          <p:nvPr/>
        </p:nvSpPr>
        <p:spPr>
          <a:xfrm>
            <a:off x="3529584" y="1517904"/>
            <a:ext cx="22768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적치 추천</a:t>
            </a:r>
            <a:endParaRPr lang="en-US" sz="1450" dirty="0"/>
          </a:p>
          <a:p>
            <a:pPr indent="0" marL="0">
              <a:buNone/>
            </a:pPr>
            <a:endParaRPr lang="en-US" sz="1450" dirty="0"/>
          </a:p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SKU · CAPA · 거리 · 고회전 기준으로 최적 Location 추천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199632" y="1371600"/>
            <a:ext cx="2679192" cy="1481328"/>
          </a:xfrm>
          <a:prstGeom prst="roundRect">
            <a:avLst>
              <a:gd name="adj" fmla="val 4321"/>
            </a:avLst>
          </a:prstGeom>
          <a:solidFill>
            <a:srgbClr val="F4F6F7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0" y="1517904"/>
            <a:ext cx="22768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피킹 우선순위 추천</a:t>
            </a:r>
            <a:endParaRPr lang="en-US" sz="1450" dirty="0"/>
          </a:p>
          <a:p>
            <a:pPr indent="0" marL="0">
              <a:buNone/>
            </a:pPr>
            <a:endParaRPr lang="en-US" sz="1450" dirty="0"/>
          </a:p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출고시간 - 작업시간 - 버퍼로 피킹 시작시간과 순서 산출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57200" y="3081528"/>
            <a:ext cx="2679192" cy="1481328"/>
          </a:xfrm>
          <a:prstGeom prst="roundRect">
            <a:avLst>
              <a:gd name="adj" fmla="val 4321"/>
            </a:avLst>
          </a:prstGeom>
          <a:solidFill>
            <a:srgbClr val="F4F6F7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3227832"/>
            <a:ext cx="22768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리스크 예측</a:t>
            </a:r>
            <a:endParaRPr lang="en-US" sz="1450" dirty="0"/>
          </a:p>
          <a:p>
            <a:pPr indent="0" marL="0">
              <a:buNone/>
            </a:pPr>
            <a:endParaRPr lang="en-US" sz="1450" dirty="0"/>
          </a:p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선형회귀로 예상소진일 계산, HIGH/MEDIUM/LOW 등급 판정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3328416" y="3081528"/>
            <a:ext cx="2679192" cy="1481328"/>
          </a:xfrm>
          <a:prstGeom prst="roundRect">
            <a:avLst>
              <a:gd name="adj" fmla="val 4321"/>
            </a:avLst>
          </a:prstGeom>
          <a:solidFill>
            <a:srgbClr val="F4F6F7"/>
          </a:solidFill>
          <a:ln/>
        </p:spPr>
      </p:sp>
      <p:sp>
        <p:nvSpPr>
          <p:cNvPr id="13" name="Text 11"/>
          <p:cNvSpPr/>
          <p:nvPr/>
        </p:nvSpPr>
        <p:spPr>
          <a:xfrm>
            <a:off x="3529584" y="3227832"/>
            <a:ext cx="22768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SOP 대응 추천</a:t>
            </a:r>
            <a:endParaRPr lang="en-US" sz="1450" dirty="0"/>
          </a:p>
          <a:p>
            <a:pPr indent="0" marL="0">
              <a:buNone/>
            </a:pPr>
            <a:endParaRPr lang="en-US" sz="1450" dirty="0"/>
          </a:p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재고부족, CAPA부족 등 예외 상황의 표준 대응 절차 제시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199632" y="3081528"/>
            <a:ext cx="2679192" cy="1481328"/>
          </a:xfrm>
          <a:prstGeom prst="roundRect">
            <a:avLst>
              <a:gd name="adj" fmla="val 4321"/>
            </a:avLst>
          </a:prstGeom>
          <a:solidFill>
            <a:srgbClr val="F4F6F7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3227832"/>
            <a:ext cx="22768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설명</a:t>
            </a:r>
            <a:endParaRPr lang="en-US" sz="1450" dirty="0"/>
          </a:p>
          <a:p>
            <a:pPr indent="0" marL="0">
              <a:buNone/>
            </a:pPr>
            <a:endParaRPr lang="en-US" sz="1450" dirty="0"/>
          </a:p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문서 · 산식 · Tool 결과를 인용해 추천 이유를 설명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구조 — LangGraph Workflow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207008" cy="960120"/>
          </a:xfrm>
          <a:prstGeom prst="roundRect">
            <a:avLst>
              <a:gd name="adj" fmla="val 7619"/>
            </a:avLst>
          </a:prstGeom>
          <a:solidFill>
            <a:srgbClr val="F4F6F7"/>
          </a:solidFill>
          <a:ln/>
        </p:spPr>
      </p:sp>
      <p:sp>
        <p:nvSpPr>
          <p:cNvPr id="5" name="Text 3"/>
          <p:cNvSpPr/>
          <p:nvPr/>
        </p:nvSpPr>
        <p:spPr>
          <a:xfrm>
            <a:off x="530352" y="1527048"/>
            <a:ext cx="10607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Router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의도 분류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636776" y="1417320"/>
            <a:ext cx="246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856232" y="1417320"/>
            <a:ext cx="1207008" cy="960120"/>
          </a:xfrm>
          <a:prstGeom prst="roundRect">
            <a:avLst>
              <a:gd name="adj" fmla="val 7619"/>
            </a:avLst>
          </a:prstGeom>
          <a:solidFill>
            <a:srgbClr val="F4F6F7"/>
          </a:solidFill>
          <a:ln/>
        </p:spPr>
      </p:sp>
      <p:sp>
        <p:nvSpPr>
          <p:cNvPr id="8" name="Text 6"/>
          <p:cNvSpPr/>
          <p:nvPr/>
        </p:nvSpPr>
        <p:spPr>
          <a:xfrm>
            <a:off x="1929384" y="1527048"/>
            <a:ext cx="10607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Planner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실행 계획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035808" y="1417320"/>
            <a:ext cx="246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55264" y="1417320"/>
            <a:ext cx="1207008" cy="960120"/>
          </a:xfrm>
          <a:prstGeom prst="roundRect">
            <a:avLst>
              <a:gd name="adj" fmla="val 7619"/>
            </a:avLst>
          </a:prstGeom>
          <a:solidFill>
            <a:srgbClr val="F4F6F7"/>
          </a:solidFill>
          <a:ln/>
        </p:spPr>
      </p:sp>
      <p:sp>
        <p:nvSpPr>
          <p:cNvPr id="11" name="Text 9"/>
          <p:cNvSpPr/>
          <p:nvPr/>
        </p:nvSpPr>
        <p:spPr>
          <a:xfrm>
            <a:off x="3328416" y="1527048"/>
            <a:ext cx="10607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실행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조회·계산·예측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434840" y="1417320"/>
            <a:ext cx="246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54296" y="1417320"/>
            <a:ext cx="1207008" cy="960120"/>
          </a:xfrm>
          <a:prstGeom prst="roundRect">
            <a:avLst>
              <a:gd name="adj" fmla="val 7619"/>
            </a:avLst>
          </a:prstGeom>
          <a:solidFill>
            <a:srgbClr val="F4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4727448" y="1527048"/>
            <a:ext cx="10607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Verifier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정합성 검증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833872" y="1417320"/>
            <a:ext cx="246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053328" y="1417320"/>
            <a:ext cx="1207008" cy="960120"/>
          </a:xfrm>
          <a:prstGeom prst="roundRect">
            <a:avLst>
              <a:gd name="adj" fmla="val 7619"/>
            </a:avLst>
          </a:prstGeom>
          <a:solidFill>
            <a:srgbClr val="F4F6F7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1527048"/>
            <a:ext cx="10607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정책·산식 검색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232904" y="1417320"/>
            <a:ext cx="246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452360" y="1417320"/>
            <a:ext cx="1207008" cy="960120"/>
          </a:xfrm>
          <a:prstGeom prst="roundRect">
            <a:avLst>
              <a:gd name="adj" fmla="val 7619"/>
            </a:avLst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7525512" y="1527048"/>
            <a:ext cx="10607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응답·승인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D6EF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 + 승인 요청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27432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889504"/>
            <a:ext cx="7726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원칙 — LLM은 계산하지 않는다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수치는 Tool이 계산하고, LLM은 결과를 해석·설명한다. 상태 변경은 반드시 사용자 승인 후에만 수행한다.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3977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패턴   Router · Planning · ReAct · PEV · Adaptive RAG · Dry-Run · Human-in-the-loop · Simulator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HUMAN-IN-THE-LOOP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없이는 아무것도 바꾸지 않는다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517904" cy="1554480"/>
          </a:xfrm>
          <a:prstGeom prst="roundRect">
            <a:avLst>
              <a:gd name="adj" fmla="val 4819"/>
            </a:avLst>
          </a:prstGeom>
          <a:solidFill>
            <a:srgbClr val="F4F6F7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15910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03504" y="2011680"/>
            <a:ext cx="1225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Tool이 적치·피킹·출고확정 대상을 계산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130552" y="1463040"/>
            <a:ext cx="1517904" cy="1554480"/>
          </a:xfrm>
          <a:prstGeom prst="roundRect">
            <a:avLst>
              <a:gd name="adj" fmla="val 4819"/>
            </a:avLst>
          </a:prstGeom>
          <a:solidFill>
            <a:srgbClr val="F4F6F7"/>
          </a:solidFill>
          <a:ln/>
        </p:spPr>
      </p:sp>
      <p:sp>
        <p:nvSpPr>
          <p:cNvPr id="8" name="Text 6"/>
          <p:cNvSpPr/>
          <p:nvPr/>
        </p:nvSpPr>
        <p:spPr>
          <a:xfrm>
            <a:off x="2295144" y="15910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276856" y="2011680"/>
            <a:ext cx="1225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Draft 생성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전 초안을 만들어 보관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803904" y="1463040"/>
            <a:ext cx="1517904" cy="1554480"/>
          </a:xfrm>
          <a:prstGeom prst="roundRect">
            <a:avLst>
              <a:gd name="adj" fmla="val 4819"/>
            </a:avLst>
          </a:prstGeom>
          <a:solidFill>
            <a:srgbClr val="F4F6F7"/>
          </a:solidFill>
          <a:ln/>
        </p:spPr>
      </p:sp>
      <p:sp>
        <p:nvSpPr>
          <p:cNvPr id="11" name="Text 9"/>
          <p:cNvSpPr/>
          <p:nvPr/>
        </p:nvSpPr>
        <p:spPr>
          <a:xfrm>
            <a:off x="3968496" y="15910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950208" y="2011680"/>
            <a:ext cx="1225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Dry Run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변경될 상태·재고를 미리보기로 제시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77256" y="1463040"/>
            <a:ext cx="1517904" cy="1554480"/>
          </a:xfrm>
          <a:prstGeom prst="roundRect">
            <a:avLst>
              <a:gd name="adj" fmla="val 4819"/>
            </a:avLst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5641848" y="15910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623560" y="2011680"/>
            <a:ext cx="1225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승인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D6EF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운영자가 확인 후 승인 또는 거부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150608" y="1463040"/>
            <a:ext cx="1517904" cy="1554480"/>
          </a:xfrm>
          <a:prstGeom prst="roundRect">
            <a:avLst>
              <a:gd name="adj" fmla="val 4819"/>
            </a:avLst>
          </a:prstGeom>
          <a:solidFill>
            <a:srgbClr val="F4F6F7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0" y="15910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296912" y="2011680"/>
            <a:ext cx="1225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3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승인된 Draft만 실제 DB 상태 변경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작업  </a:t>
            </a:r>
            <a:pPr indent="0" marL="0">
              <a:buNone/>
            </a:pPr>
            <a:r>
              <a:rPr lang="en-US" sz="13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적치지시 생성 · 피킹지시 발행 · 출고확정     </a:t>
            </a:r>
            <a:pPr indent="0" marL="0">
              <a:buNone/>
            </a:pPr>
            <a:r>
              <a:rPr lang="en-US" sz="13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 </a:t>
            </a:r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없는 상태 변경 0건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거부된 Draft는 REJECTED로 보관되어 언제든 추적 가능 — 모든 추천은 Tool Trace로 재현된다.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IDENTITY &amp; MEMORY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페르소나와 대화 관리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3246120"/>
          </a:xfrm>
          <a:prstGeom prst="roundRect">
            <a:avLst>
              <a:gd name="adj" fmla="val 2254"/>
            </a:avLst>
          </a:prstGeom>
          <a:solidFill>
            <a:srgbClr val="F4F6F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49047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페르소나 · 톤앤매너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13232" y="1901952"/>
            <a:ext cx="35661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간결한 존댓말, 결론 → 수치 → 근거 → 조치 순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수치는 Tool 결과만 인용 — 추측 표현 금지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 위험·출고 임박 건은 응답 첫머리에 배치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상태변경은 항상 “승인이 필요합니다” 명시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금지: 수치 임의 생성 · 문서에 없는 정책 설명 · 업무 범위 밖 답변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4023360" cy="3246120"/>
          </a:xfrm>
          <a:prstGeom prst="roundRect">
            <a:avLst>
              <a:gd name="adj" fmla="val 2254"/>
            </a:avLst>
          </a:prstGeom>
          <a:solidFill>
            <a:srgbClr val="EDF5F6"/>
          </a:solidFill>
          <a:ln/>
        </p:spPr>
      </p:sp>
      <p:sp>
        <p:nvSpPr>
          <p:cNvPr id="8" name="Text 6"/>
          <p:cNvSpPr/>
          <p:nvPr/>
        </p:nvSpPr>
        <p:spPr>
          <a:xfrm>
            <a:off x="4919472" y="149047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메모리 전략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19472" y="1901952"/>
            <a:ext cx="35661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10턴 윈도우 버퍼 + 세션 슬롯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“승인해줘” → 직전 Draft, “그 제품은?” → 최근 SKU 참조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30분 무활동 시 세션 종료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대기 Draft는 DB 영속 — 세션 만료 후에도 승인 가능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메모리는 POC 범위 제외 (모든 기록은 DB)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LLM·임베딩 모델은 사내 제공 예정(미정) — 교체 가능한 model-agnostic 구조로 설계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&amp;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구성과 지식 기반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29844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09728" cy="1097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59105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· 임베딩  </a:t>
            </a:r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제공 모델 (미정) · 교체 가능 설계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167128"/>
            <a:ext cx="109728" cy="1097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202082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LangGraph  </a:t>
            </a:r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워크플로우 · 조건 분기 · 상태 관리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596896"/>
            <a:ext cx="109728" cy="1097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245059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Engine  </a:t>
            </a:r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조회·추천·Forecast·Draft 등 표준 Tool 23종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026664"/>
            <a:ext cx="109728" cy="1097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8803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(FAISS)  </a:t>
            </a:r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6종 검색 · 필요할 때만 수행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456432"/>
            <a:ext cx="109728" cy="1097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3101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SQLite  </a:t>
            </a:r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POC용 WMS 데이터 저장소 (13개 테이블)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3886200"/>
            <a:ext cx="109728" cy="1097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73989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Linear Regression  </a:t>
            </a:r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소진일 예측 · 이동평균 Fallback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4315968"/>
            <a:ext cx="109728" cy="1097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416966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· Streamlit  </a:t>
            </a:r>
            <a:pPr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API와 운영자용 대시보드 UI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892040" y="1298448"/>
            <a:ext cx="3794760" cy="3246120"/>
          </a:xfrm>
          <a:prstGeom prst="roundRect">
            <a:avLst>
              <a:gd name="adj" fmla="val 2254"/>
            </a:avLst>
          </a:prstGeom>
          <a:solidFill>
            <a:srgbClr val="EDF5F6"/>
          </a:solidFill>
          <a:ln/>
        </p:spPr>
      </p:sp>
      <p:sp>
        <p:nvSpPr>
          <p:cNvPr id="20" name="Text 18"/>
          <p:cNvSpPr/>
          <p:nvPr/>
        </p:nvSpPr>
        <p:spPr>
          <a:xfrm>
            <a:off x="5138928" y="1463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지식 문서 6종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138928" y="187452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적치 정책   </a:t>
            </a:r>
            <a:pPr indent="0" marL="0"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SKU 우선 · CAPA · 거리 · 고회전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138928" y="2304288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피킹 정책   </a:t>
            </a:r>
            <a:pPr indent="0" marL="0"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시작시간 산정 · 우선순위 기준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138928" y="2734056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리스크 정책   </a:t>
            </a:r>
            <a:pPr indent="0" marL="0"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소진일 · 위험등급 · Fallback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138928" y="3163824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SOP   </a:t>
            </a:r>
            <a:pPr indent="0" marL="0"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재고부족 등 예외 상황 대응 8종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138928" y="3593592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산식 문서   </a:t>
            </a:r>
            <a:pPr indent="0" marL="0"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적치 점수 · 피킹 점수 · Forecast 산식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138928" y="402336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 사전   </a:t>
            </a:r>
            <a:pPr indent="0" marL="0"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WMS 용어 정의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의사결정은 Tool이, 그 근거 설명은 RAG가 담당한다.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SUCCESS CRITERIA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무엇으로 성공을 판단하는가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975104" cy="182880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755648"/>
            <a:ext cx="1975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95%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66928" y="2514600"/>
            <a:ext cx="17556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Intent 분류 정확도</a:t>
            </a:r>
            <a:endParaRPr lang="en-US" sz="125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100건 기준 의도 분류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542032" y="1554480"/>
            <a:ext cx="1975104" cy="182880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/>
        </p:spPr>
      </p:sp>
      <p:sp>
        <p:nvSpPr>
          <p:cNvPr id="8" name="Text 6"/>
          <p:cNvSpPr/>
          <p:nvPr/>
        </p:nvSpPr>
        <p:spPr>
          <a:xfrm>
            <a:off x="2542032" y="1755648"/>
            <a:ext cx="1975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85%+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2651760" y="2514600"/>
            <a:ext cx="17556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Recall@3</a:t>
            </a:r>
            <a:endParaRPr lang="en-US" sz="125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문서 검색 정확도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26864" y="1554480"/>
            <a:ext cx="1975104" cy="182880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/>
        </p:spPr>
      </p:sp>
      <p:sp>
        <p:nvSpPr>
          <p:cNvPr id="11" name="Text 9"/>
          <p:cNvSpPr/>
          <p:nvPr/>
        </p:nvSpPr>
        <p:spPr>
          <a:xfrm>
            <a:off x="4626864" y="1755648"/>
            <a:ext cx="1975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90%+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736592" y="2514600"/>
            <a:ext cx="17556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Groundedness</a:t>
            </a:r>
            <a:endParaRPr lang="en-US" sz="125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문서에 근거한 답변 비율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11696" y="1554480"/>
            <a:ext cx="1975104" cy="182880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711696" y="1755648"/>
            <a:ext cx="1975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821424" y="2514600"/>
            <a:ext cx="17556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무승인 상태 변경</a:t>
            </a:r>
            <a:endParaRPr lang="en-US" sz="125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없는 지시·확정 차단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외 — 적치 규칙 위반 추천 0건 · 피킹 시작시간 계산 정확도 100% · Forecast 위험등급 분류 정확도 평가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로드맵 — 10 Phase, 4단계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975104" cy="2240280"/>
          </a:xfrm>
          <a:prstGeom prst="roundRect">
            <a:avLst>
              <a:gd name="adj" fmla="val 3704"/>
            </a:avLst>
          </a:prstGeom>
          <a:solidFill>
            <a:srgbClr val="32414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91640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 구축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2404872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셋업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스키마 · Seed Data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3649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1–2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42032" y="1508760"/>
            <a:ext cx="1975104" cy="2240280"/>
          </a:xfrm>
          <a:prstGeom prst="roundRect">
            <a:avLst>
              <a:gd name="adj" fmla="val 3704"/>
            </a:avLst>
          </a:prstGeom>
          <a:solidFill>
            <a:srgbClr val="324148"/>
          </a:solidFill>
          <a:ln/>
        </p:spPr>
      </p:sp>
      <p:sp>
        <p:nvSpPr>
          <p:cNvPr id="10" name="Text 8"/>
          <p:cNvSpPr/>
          <p:nvPr/>
        </p:nvSpPr>
        <p:spPr>
          <a:xfrm>
            <a:off x="2724912" y="1691640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24912" y="196596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 엔진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724912" y="2404872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23종 구현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Forecast · What-if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24912" y="33649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3–4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6864" y="1508760"/>
            <a:ext cx="1975104" cy="2240280"/>
          </a:xfrm>
          <a:prstGeom prst="roundRect">
            <a:avLst>
              <a:gd name="adj" fmla="val 3704"/>
            </a:avLst>
          </a:prstGeom>
          <a:solidFill>
            <a:srgbClr val="324148"/>
          </a:solidFill>
          <a:ln/>
        </p:spPr>
      </p:sp>
      <p:sp>
        <p:nvSpPr>
          <p:cNvPr id="15" name="Text 13"/>
          <p:cNvSpPr/>
          <p:nvPr/>
        </p:nvSpPr>
        <p:spPr>
          <a:xfrm>
            <a:off x="4809744" y="1691640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09744" y="196596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조립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809744" y="2404872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인덱싱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LangGraph 워크플로우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09744" y="33649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5–6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11696" y="1508760"/>
            <a:ext cx="1975104" cy="2240280"/>
          </a:xfrm>
          <a:prstGeom prst="roundRect">
            <a:avLst>
              <a:gd name="adj" fmla="val 3704"/>
            </a:avLst>
          </a:prstGeom>
          <a:solidFill>
            <a:srgbClr val="324148"/>
          </a:solidFill>
          <a:ln/>
        </p:spPr>
      </p:sp>
      <p:sp>
        <p:nvSpPr>
          <p:cNvPr id="20" name="Text 18"/>
          <p:cNvSpPr/>
          <p:nvPr/>
        </p:nvSpPr>
        <p:spPr>
          <a:xfrm>
            <a:off x="6894576" y="1691640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94576" y="196596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서비스화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894576" y="2404872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· Streamlit UI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· 데모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94576" y="33649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90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7–9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확장 — Hybrid Search · Reranker · PostgreSQL 전환 · 실제 WMS API 연동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Smart WMS Agent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PROGRESS UPDATE · 2026.06.17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481328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진행 업데이트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432304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8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기획요약 + 진행현황을 병합했습니다. 이후 진행사항은 이 파일에 날짜 단위로 누적합니다.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145536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145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78992" y="3099816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F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 구현 완료 현황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566160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66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78992" y="352044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F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디자인 패턴 — 정의와 코드 구현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986784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9867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78992" y="3941064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F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심화 — Adaptive/Agentic · ALR+Sufficient · Vector DB 구성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407408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407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78992" y="436168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F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— 실시간 수요 발생 시뮬레이션 (Toast · 긴급 처리)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48280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Smart WMS Agent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IMPLEMENTATION STATUS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구현된 내용 — POC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문서(docs 12종)대로 app/ 전 계층 구현 — 자연어 질의 → Tool 계산 → 근거 설명 → 승인 실행이 end-to-end로 동작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679192" cy="1371600"/>
          </a:xfrm>
          <a:prstGeom prst="roundRect">
            <a:avLst>
              <a:gd name="adj" fmla="val 4667"/>
            </a:avLst>
          </a:prstGeom>
          <a:solidFill>
            <a:srgbClr val="F4F6F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60020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· Seed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SQLite 15테이블 스키마 + 일관성 시드</a:t>
            </a: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db/schema.sql · seed/generate.py · wms.db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328416" y="1463040"/>
            <a:ext cx="2679192" cy="1371600"/>
          </a:xfrm>
          <a:prstGeom prst="roundRect">
            <a:avLst>
              <a:gd name="adj" fmla="val 4667"/>
            </a:avLst>
          </a:prstGeom>
          <a:solidFill>
            <a:srgbClr val="F4F6F7"/>
          </a:solidFill>
          <a:ln/>
        </p:spPr>
      </p:sp>
      <p:sp>
        <p:nvSpPr>
          <p:cNvPr id="8" name="Text 6"/>
          <p:cNvSpPr/>
          <p:nvPr/>
        </p:nvSpPr>
        <p:spPr>
          <a:xfrm>
            <a:off x="3511296" y="160020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· 적치(0~1 정규화 점수) · 피킹(우선순위·시작시간) · Draft/Dry-Run</a:t>
            </a: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tools/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199632" y="1463040"/>
            <a:ext cx="2679192" cy="1371600"/>
          </a:xfrm>
          <a:prstGeom prst="roundRect">
            <a:avLst>
              <a:gd name="adj" fmla="val 4667"/>
            </a:avLst>
          </a:prstGeom>
          <a:solidFill>
            <a:srgbClr val="EDF5F6"/>
          </a:solidFill>
          <a:ln/>
        </p:spPr>
      </p:sp>
      <p:sp>
        <p:nvSpPr>
          <p:cNvPr id="10" name="Text 8"/>
          <p:cNvSpPr/>
          <p:nvPr/>
        </p:nvSpPr>
        <p:spPr>
          <a:xfrm>
            <a:off x="6382512" y="160020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Forecast · DES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LR·MA 소진예측·위험등급 · SimPy 3인1조 DES · Monte Carlo P50/P90 · What-if</a:t>
            </a: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sim/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2679192" cy="1371600"/>
          </a:xfrm>
          <a:prstGeom prst="roundRect">
            <a:avLst>
              <a:gd name="adj" fmla="val 4667"/>
            </a:avLst>
          </a:prstGeom>
          <a:solidFill>
            <a:srgbClr val="F4F6F7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15468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ALR 메타 청킹 · FAISS · PRISM 리랭크 · 충분성 게이트</a:t>
            </a: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rag/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3328416" y="3017520"/>
            <a:ext cx="2679192" cy="1371600"/>
          </a:xfrm>
          <a:prstGeom prst="roundRect">
            <a:avLst>
              <a:gd name="adj" fmla="val 4667"/>
            </a:avLst>
          </a:prstGeom>
          <a:solidFill>
            <a:srgbClr val="F4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3511296" y="315468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LangGraph 9노드 조건분기 그래프 + AgentState</a:t>
            </a: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agent/graph.py · nodes.py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199632" y="3017520"/>
            <a:ext cx="2679192" cy="1371600"/>
          </a:xfrm>
          <a:prstGeom prst="roundRect">
            <a:avLst>
              <a:gd name="adj" fmla="val 4667"/>
            </a:avLst>
          </a:prstGeom>
          <a:solidFill>
            <a:srgbClr val="F4F6F7"/>
          </a:solidFill>
          <a:ln/>
        </p:spPr>
      </p:sp>
      <p:sp>
        <p:nvSpPr>
          <p:cNvPr id="16" name="Text 14"/>
          <p:cNvSpPr/>
          <p:nvPr/>
        </p:nvSpPr>
        <p:spPr>
          <a:xfrm>
            <a:off x="6382512" y="315468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· UI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· 무프레임워크 웹 SPA(시뮬레이션·디지털트윈·타임라인)</a:t>
            </a:r>
            <a:endParaRPr lang="en-US" sz="1350" dirty="0"/>
          </a:p>
          <a:p>
            <a:pPr indent="0" marL="0">
              <a:buNone/>
            </a:pPr>
            <a:r>
              <a:rPr lang="en-US" sz="9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api/ · web/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4526280"/>
            <a:ext cx="8229600" cy="502920"/>
          </a:xfrm>
          <a:prstGeom prst="roundRect">
            <a:avLst>
              <a:gd name="adj" fmla="val 12727"/>
            </a:avLst>
          </a:prstGeom>
          <a:solidFill>
            <a:srgbClr val="EDF5F6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45262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하네스  </a:t>
            </a:r>
            <a:pPr indent="0" marL="0">
              <a:buNone/>
            </a:pPr>
            <a:r>
              <a:rPr lang="en-US" sz="105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7종 · 24체크 — Tool 결정성 · 적치 정규화 · DES 재현성(seed 고정) · Forecast · Intent · RAG/Abstain · Answer Grounding (eval/harness.py)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PATTERNS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적용한 에이전트 패턴 — 정의와 코드 구현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원칙 — LLM은 계산하지 않는다 · Tool이 계산하고 LLM은 설명한다 (agent/nodes.py)</a:t>
            </a:r>
            <a:endParaRPr lang="en-US" sz="11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063240"/>
                <a:gridCol w="28803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(역할)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(파일 · 함수)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Router / Meta-Controller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A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질의 intent·파라미터 분류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router_node · gpt-4.1-mini JSON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Planning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A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intent → Tool 실행계획(규칙)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planner_node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 Use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A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조회·점수·예측·Draft 계산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tool_executor_node + _HANDLERS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PEV / Verify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A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 정합성 검증(점수 0~1 범위)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verifier_node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Dry-Run · HITL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A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상태변경 미리보기 → 사용자 승인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approval_gate_node · drafts.dry_run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Adaptive RAG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A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질의에만 검색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rag_decision_node (RAG_INTENTS)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Agentic RAG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A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충분성 루프 · 재검색 · abstain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retriever.retrieve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Simulator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A8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SimPy DES · What-if 시나리오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des.run_des_simulation · whatif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PATTERNS · CODE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코드로 보는 패턴 구현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160520" cy="3246120"/>
          </a:xfrm>
          <a:prstGeom prst="roundRect">
            <a:avLst>
              <a:gd name="adj" fmla="val 1690"/>
            </a:avLst>
          </a:prstGeom>
          <a:solidFill>
            <a:srgbClr val="263238"/>
          </a:solidFill>
          <a:ln/>
        </p:spPr>
      </p:sp>
      <p:sp>
        <p:nvSpPr>
          <p:cNvPr id="5" name="Text 3"/>
          <p:cNvSpPr/>
          <p:nvPr/>
        </p:nvSpPr>
        <p:spPr>
          <a:xfrm>
            <a:off x="603504" y="1508760"/>
            <a:ext cx="3867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Agentic RAG — 충분성 루프 (rag/retriever.py)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03504" y="1783080"/>
            <a:ext cx="3867912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retrieve(query, intent, k=5):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q, retries = query, 0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while True: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cands  = search(q, k, intent)    # FAISS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ranked = prism_rerank(query, cands)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judge  = sufficient_context(query, ranked)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judge["answerable"] or retries&gt;=2: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break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부족한 근거유형을 질의에 보강 후 재검색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 = f"{query} {missing}"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retries += 1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충분: 근거 반환 / 부족: abstain</a:t>
            </a:r>
            <a:endParaRPr lang="en-US" sz="830" dirty="0"/>
          </a:p>
        </p:txBody>
      </p:sp>
      <p:sp>
        <p:nvSpPr>
          <p:cNvPr id="7" name="Shape 5"/>
          <p:cNvSpPr/>
          <p:nvPr/>
        </p:nvSpPr>
        <p:spPr>
          <a:xfrm>
            <a:off x="4800600" y="1417320"/>
            <a:ext cx="3886200" cy="1536192"/>
          </a:xfrm>
          <a:prstGeom prst="roundRect">
            <a:avLst>
              <a:gd name="adj" fmla="val 3571"/>
            </a:avLst>
          </a:prstGeom>
          <a:solidFill>
            <a:srgbClr val="263238"/>
          </a:solidFill>
          <a:ln/>
        </p:spPr>
      </p:sp>
      <p:sp>
        <p:nvSpPr>
          <p:cNvPr id="8" name="Text 6"/>
          <p:cNvSpPr/>
          <p:nvPr/>
        </p:nvSpPr>
        <p:spPr>
          <a:xfrm>
            <a:off x="4946904" y="1508760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Use — 계산은 Tool (agent/nodes.py)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946904" y="1783080"/>
            <a:ext cx="35935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_HANDLERS = {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"inventory_risk": _h_inventory_risk,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"stocking_recommendation": _h_stocking, ...}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tool_executor_node(state):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 = _HANDLERS[state["intent"]]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{"tool_results": h(state["params"])}</a:t>
            </a:r>
            <a:endParaRPr lang="en-US" sz="830" dirty="0"/>
          </a:p>
        </p:txBody>
      </p:sp>
      <p:sp>
        <p:nvSpPr>
          <p:cNvPr id="10" name="Shape 8"/>
          <p:cNvSpPr/>
          <p:nvPr/>
        </p:nvSpPr>
        <p:spPr>
          <a:xfrm>
            <a:off x="4800600" y="3127248"/>
            <a:ext cx="3886200" cy="1536192"/>
          </a:xfrm>
          <a:prstGeom prst="roundRect">
            <a:avLst>
              <a:gd name="adj" fmla="val 3571"/>
            </a:avLst>
          </a:prstGeom>
          <a:solidFill>
            <a:srgbClr val="263238"/>
          </a:solidFill>
          <a:ln/>
        </p:spPr>
      </p:sp>
      <p:sp>
        <p:nvSpPr>
          <p:cNvPr id="11" name="Text 9"/>
          <p:cNvSpPr/>
          <p:nvPr/>
        </p:nvSpPr>
        <p:spPr>
          <a:xfrm>
            <a:off x="4946904" y="3218688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Adaptive RAG — 진입 게이트 (agent/nodes.py)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946904" y="3493008"/>
            <a:ext cx="35935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RAG_INTENTS = {"policy_question",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"stocking_recommendation", "inventory_risk"...}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rag_decision_node(state):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단순 조회는 검색 생략(비용·지연 ↓)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{"rag_required":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state["intent"] in RAG_INTENTS}</a:t>
            </a:r>
            <a:endParaRPr lang="en-US" sz="83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·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① Adaptive vs Agentic — 검색 여부 + 품질 루프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0" cy="1783080"/>
          </a:xfrm>
          <a:prstGeom prst="roundRect">
            <a:avLst>
              <a:gd name="adj" fmla="val 3590"/>
            </a:avLst>
          </a:prstGeom>
          <a:solidFill>
            <a:srgbClr val="F4F6F7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9961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Adaptive RAG — 진입 게이트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1847088"/>
            <a:ext cx="374904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“검색을 할까?”를 결정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단순 조회(입고예정·재고)는 검색 생략 → 비용·지연 ↓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근거·정책·SOP·산식 질문만 검색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구현: rag_decision_node (intent ∈ RAG_INTENTS)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4572000" y="1371600"/>
            <a:ext cx="4114800" cy="1783080"/>
          </a:xfrm>
          <a:prstGeom prst="roundRect">
            <a:avLst>
              <a:gd name="adj" fmla="val 3590"/>
            </a:avLst>
          </a:prstGeom>
          <a:solidFill>
            <a:srgbClr val="EDF5F6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54880" y="149961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Agentic RAG — 품질 루프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54880" y="1847088"/>
            <a:ext cx="374904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 근거로 충분한가?”를 반복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검색 → 리랭크 → 충분성 판정, 부족 시 query rewrite 재검색(≤2)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충분 근거 없으면 abstain(“문서 근거가 부족합니다”)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구현: retriever.retrieve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457200" y="325526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Adaptive = 문 앞에서 ‘들어갈지’ 결정  ·  Agentic = 안에서 ‘충분해질 때까지’ 반복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263238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37673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둘을 받치는 3가지 사상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85800" y="4133088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ALR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FD8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구조·사전 라우팅      </a:t>
            </a:r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PRISM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FD8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설명용 근거 추출      </a:t>
            </a:r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Sufficient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FD8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환각 차단 게이트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9FC7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각각이 무엇이고, 어떤 장점 때문에 넣어 어떻게 결합했는지는 다음 장에서 설명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· WHY COMBINE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② ALR · Sufficient · PRISM — 무엇이고, 왜 결합했나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024128"/>
            <a:ext cx="8531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기법은 역할이 겹치지 않는다 — 질문 분석, 근거 정제, 생성 판단을 나눠 단일 RAG의 약점을 보완한다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531352" cy="457200"/>
          </a:xfrm>
          <a:prstGeom prst="roundRect">
            <a:avLst>
              <a:gd name="adj" fmla="val 16000"/>
            </a:avLst>
          </a:prstGeom>
          <a:solidFill>
            <a:srgbClr val="EDF5F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71600"/>
            <a:ext cx="8531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입력 </a:t>
            </a:r>
            <a:pPr algn="ctr"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</a:t>
            </a:r>
            <a:pPr algn="ctr"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ALR </a:t>
            </a:r>
            <a:pPr algn="ctr"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Retrieval  →  </a:t>
            </a:r>
            <a:pPr algn="ctr"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PRISM </a:t>
            </a:r>
            <a:pPr algn="ctr"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</a:t>
            </a:r>
            <a:pPr algn="ctr"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Sufficient Context </a:t>
            </a:r>
            <a:pPr algn="ctr" indent="0" marL="0">
              <a:buNone/>
            </a:pPr>
            <a:r>
              <a:rPr lang="en-US" sz="10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</a:t>
            </a:r>
            <a:pPr algn="ctr" indent="0" marL="0">
              <a:buNone/>
            </a:pPr>
            <a:r>
              <a:rPr lang="en-US" sz="10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Answer / Re-search / Abstain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2734056" cy="2240280"/>
          </a:xfrm>
          <a:prstGeom prst="roundRect">
            <a:avLst>
              <a:gd name="adj" fmla="val 2857"/>
            </a:avLst>
          </a:prstGeom>
          <a:solidFill>
            <a:srgbClr val="F4F6F7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21792" y="2075688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ALR: Analysis–Localization–Reasoning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21792" y="2596896"/>
            <a:ext cx="240487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  </a:t>
            </a:r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DocSeeker의 구조화된 문서 추론 흐름. 질문 의도를 먼저 분석하고, 필요한 근거 위치를 문서에서 식별한 뒤 그 근거로 추론한다.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  </a:t>
            </a:r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검색과 추론을 분리해 ‘어디를 근거로 답했는지’가 명확. 긴 문서의 노이즈를 줄이고 근거 추적성을 높인다.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 </a:t>
            </a:r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DocSeeker 모델은 도입하지 않고 ALR 개념·흐름만 차용. RAG 파이프라인에서 질문 분석·근거 후보 라우팅 기준으로 사용.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3355848" y="1965960"/>
            <a:ext cx="2734056" cy="2240280"/>
          </a:xfrm>
          <a:prstGeom prst="roundRect">
            <a:avLst>
              <a:gd name="adj" fmla="val 2857"/>
            </a:avLst>
          </a:prstGeom>
          <a:solidFill>
            <a:srgbClr val="EDF5F6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520440" y="2075688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PRISM: Evidence-aware Reranker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520440" y="2596896"/>
            <a:ext cx="240487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  </a:t>
            </a:r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유사도 점수만 쓰는 reranker가 아니라 relevance 판단·contribution·근거 구절(evidence passage)을 함께 생성하는 재랭킹.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  </a:t>
            </a:r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‘왜 근거인지’와 ‘답변 기여도’를 함께 제공 → 검색 결과를 그대로 넣지 않고 핵심 근거 중심으로 context를 정제.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 </a:t>
            </a:r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검색된 후보 청크를 재평가해 답변에 쓸 근거 구절과 설명 가능한 contribution을 생성.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6254496" y="1965960"/>
            <a:ext cx="2734056" cy="2240280"/>
          </a:xfrm>
          <a:prstGeom prst="roundRect">
            <a:avLst>
              <a:gd name="adj" fmla="val 2857"/>
            </a:avLst>
          </a:prstGeom>
          <a:solidFill>
            <a:srgbClr val="F4F6F7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19088" y="2075688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Sufficient Context: Answerability Gate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19088" y="2596896"/>
            <a:ext cx="240487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  </a:t>
            </a:r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정제된 context만으로 질문에 답할 수 있는지 판단하는 품질 게이트.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  </a:t>
            </a:r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부족 상태의 억지 답변을 차단. 불충분하면 추가 검색·재질문 또는 답변 보류(abstain).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 </a:t>
            </a:r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생성 직전 근거 충분성을 판단 — 충분하면 답변, 부족하면 재검색하거나 ‘근거 부족으로 답변 불가’.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457200" y="4315968"/>
            <a:ext cx="8531352" cy="731520"/>
          </a:xfrm>
          <a:prstGeom prst="roundRect">
            <a:avLst>
              <a:gd name="adj" fmla="val 8750"/>
            </a:avLst>
          </a:prstGeom>
          <a:solidFill>
            <a:srgbClr val="263238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431596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  </a:t>
            </a:r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6ED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ALR은 질문 분석·근거 탐색을 구조화하고, PRISM은 후보를 근거 중심으로 재정렬·정제하며, Sufficient Context는 최종 답변 가능 여부를 판단한다. → 단순 유사도 RAG의 약점(잘못된 근거 선택·불충분한 context 답변·환각)을 함께 줄인다.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· VECTOR DB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③ Vector DB 구성과 검색 파이프라인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77640" cy="3246120"/>
          </a:xfrm>
          <a:prstGeom prst="roundRect">
            <a:avLst>
              <a:gd name="adj" fmla="val 1972"/>
            </a:avLst>
          </a:prstGeom>
          <a:solidFill>
            <a:srgbClr val="F4F6F7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545336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Vector DB · 인덱스 구성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1892808"/>
            <a:ext cx="3611880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Vector DB: FAISS IndexFlatIP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(L2 정규화 → 코사인 유사도)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임베딩: text-embedding-3-small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청킹: 정책 md 6종 · ## 헤딩 단위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(LLM 없이 결정적 메타 부여)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메타: source·document_type·domain·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section·answerable_intents·evidence_summary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인덱스: faiss.index + chunks.json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정책 변경 시 전체 재인덱싱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향후: PostgreSQL/pgvector 전환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4617720" y="1417320"/>
            <a:ext cx="4069080" cy="1783080"/>
          </a:xfrm>
          <a:prstGeom prst="roundRect">
            <a:avLst>
              <a:gd name="adj" fmla="val 3590"/>
            </a:avLst>
          </a:prstGeom>
          <a:solidFill>
            <a:srgbClr val="EDF5F6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00600" y="1545336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파이프라인 (rag/retriever.py)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800600" y="1892808"/>
            <a:ext cx="370332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질의 임베딩 → ② FAISS top-(k×3)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intent 메타 필터 → top-k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PRISM 리랭크(relevance·contribution·span)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Sufficient 판정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충분 → 근거 답변 / 부족 → 재검색(≤2)·abstain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4617720" y="3383280"/>
            <a:ext cx="4069080" cy="1280160"/>
          </a:xfrm>
          <a:prstGeom prst="roundRect">
            <a:avLst>
              <a:gd name="adj" fmla="val 4286"/>
            </a:avLst>
          </a:prstGeom>
          <a:solidFill>
            <a:srgbClr val="263238"/>
          </a:solidFill>
          <a:ln/>
        </p:spPr>
      </p:sp>
      <p:sp>
        <p:nvSpPr>
          <p:cNvPr id="11" name="Text 9"/>
          <p:cNvSpPr/>
          <p:nvPr/>
        </p:nvSpPr>
        <p:spPr>
          <a:xfrm>
            <a:off x="4764024" y="3474720"/>
            <a:ext cx="3776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FD1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인덱스 빌드 (rag/index.py)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764024" y="3749040"/>
            <a:ext cx="3776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vecs = embed([c.text for c in chunks])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faiss.normalize_L2(vecs)        # → 코사인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= faiss.IndexFlatIP(dim)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E6ED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index.add(vecs)</a:t>
            </a:r>
            <a:endParaRPr lang="en-US" sz="83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ROADMAP · NEXT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① 실시간 수요 발생 (Runtime Demand Stream)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DES의 확률 수요생성(Poisson, λ=fit_demand)을 런타임 이벤트 스트림으로 확장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4114800" cy="1783080"/>
          </a:xfrm>
          <a:prstGeom prst="roundRect">
            <a:avLst>
              <a:gd name="adj" fmla="val 3590"/>
            </a:avLst>
          </a:prstGeom>
          <a:solidFill>
            <a:srgbClr val="F4F6F7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9105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발생 개념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938528"/>
            <a:ext cx="374904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앱 실행(runtime) 중 확률분포로 입고요청/출고요청이 실시간 생성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발생 시점: 보유 데이터 대비 미래 / 중간 / 근미래(실시간)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생성기: 현재 DES Poisson 수요(λ) 로직 재사용</a:t>
            </a:r>
            <a:endParaRPr lang="en-US" sz="1020" dirty="0"/>
          </a:p>
        </p:txBody>
      </p:sp>
      <p:sp>
        <p:nvSpPr>
          <p:cNvPr id="8" name="Shape 6"/>
          <p:cNvSpPr/>
          <p:nvPr/>
        </p:nvSpPr>
        <p:spPr>
          <a:xfrm>
            <a:off x="457200" y="3383280"/>
            <a:ext cx="4114800" cy="1280160"/>
          </a:xfrm>
          <a:prstGeom prst="roundRect">
            <a:avLst>
              <a:gd name="adj" fmla="val 5000"/>
            </a:avLst>
          </a:prstGeom>
          <a:solidFill>
            <a:srgbClr val="EDF5F6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351129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발생 흐름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38587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확률 스트림 발생기 → 요청 row 생성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Toast 알림 → [탭 이동] 또는 [닫기]</a:t>
            </a:r>
            <a:endParaRPr lang="en-US" sz="1020" dirty="0"/>
          </a:p>
        </p:txBody>
      </p:sp>
      <p:sp>
        <p:nvSpPr>
          <p:cNvPr id="11" name="Shape 9"/>
          <p:cNvSpPr/>
          <p:nvPr/>
        </p:nvSpPr>
        <p:spPr>
          <a:xfrm>
            <a:off x="4754880" y="146304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956048" y="159105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🔔  신규 출고요청 발생 — ORD-RT-014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56048" y="19019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16:00 마감 · </a:t>
            </a:r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956048" y="2286000"/>
            <a:ext cx="1737360" cy="384048"/>
          </a:xfrm>
          <a:prstGeom prst="roundRect">
            <a:avLst>
              <a:gd name="adj" fmla="val 23810"/>
            </a:avLst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4956048" y="22860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입·출고 요청 데이터로 이동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812280" y="2286000"/>
            <a:ext cx="868680" cy="384048"/>
          </a:xfrm>
          <a:prstGeom prst="roundRect">
            <a:avLst>
              <a:gd name="adj" fmla="val 23810"/>
            </a:avLst>
          </a:prstGeom>
          <a:solidFill>
            <a:srgbClr val="F4F6F7"/>
          </a:solidFill>
          <a:ln w="12700">
            <a:solidFill>
              <a:srgbClr val="C9D6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228600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발생 시점 분포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937760" y="3977640"/>
            <a:ext cx="3566160" cy="0"/>
          </a:xfrm>
          <a:prstGeom prst="line">
            <a:avLst/>
          </a:prstGeom>
          <a:noFill/>
          <a:ln w="19050">
            <a:solidFill>
              <a:srgbClr val="C9D6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37760" y="3904488"/>
            <a:ext cx="146304" cy="14630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1" name="Text 19"/>
          <p:cNvSpPr/>
          <p:nvPr/>
        </p:nvSpPr>
        <p:spPr>
          <a:xfrm>
            <a:off x="4526280" y="4114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now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989320" y="390448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5577840" y="4114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근미래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949440" y="3904488"/>
            <a:ext cx="146304" cy="146304"/>
          </a:xfrm>
          <a:prstGeom prst="ellipse">
            <a:avLst/>
          </a:prstGeom>
          <a:solidFill>
            <a:srgbClr val="8AA0A6"/>
          </a:solidFill>
          <a:ln/>
        </p:spPr>
      </p:sp>
      <p:sp>
        <p:nvSpPr>
          <p:cNvPr id="25" name="Text 23"/>
          <p:cNvSpPr/>
          <p:nvPr/>
        </p:nvSpPr>
        <p:spPr>
          <a:xfrm>
            <a:off x="6537960" y="4114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183880" y="3904488"/>
            <a:ext cx="146304" cy="146304"/>
          </a:xfrm>
          <a:prstGeom prst="ellipse">
            <a:avLst/>
          </a:prstGeom>
          <a:solidFill>
            <a:srgbClr val="8AA0A6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0" y="4114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754880" y="44988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요청은 now 이후 어느 시점에도 발생 가능 — 근미래 건은 즉시 처리 압박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ROADMAP · NEXT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② 긴급 처리 판정 · 입·출고 요청 데이터 탭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114800" cy="1572768"/>
          </a:xfrm>
          <a:prstGeom prst="roundRect">
            <a:avLst>
              <a:gd name="adj" fmla="val 4070"/>
            </a:avLst>
          </a:prstGeom>
          <a:solidFill>
            <a:srgbClr val="F4F6F7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54533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긴급여부 판정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1892808"/>
            <a:ext cx="3749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정의: now 기준 오늘(영업일) 내 처리해야 하면 긴급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판정: due_datetime ≤ 오늘 마감(EOD) → urgent = true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연계: 피킹 우선순위(deadline_urgency)·DES 부하에 즉시 반영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457200" y="3127248"/>
            <a:ext cx="4114800" cy="1627632"/>
          </a:xfrm>
          <a:prstGeom prst="roundRect">
            <a:avLst>
              <a:gd name="adj" fmla="val 3933"/>
            </a:avLst>
          </a:prstGeom>
          <a:solidFill>
            <a:srgbClr val="EDF5F6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325526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모델 변경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602736"/>
            <a:ext cx="37490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inbound_orders / outbound_orders에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urgent 파생 컬럼(또는 뷰) 추가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실시간 생성 요청은 row append (source=REALTIME)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신규 탭: 입·출고 요청 데이터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4709160" y="1417320"/>
            <a:ext cx="3977640" cy="1143000"/>
          </a:xfrm>
          <a:prstGeom prst="roundRect">
            <a:avLst>
              <a:gd name="adj" fmla="val 5600"/>
            </a:avLst>
          </a:prstGeom>
          <a:solidFill>
            <a:srgbClr val="F4F6F7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92040" y="1545336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탭 구성 (신규 탭 추가)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892040" y="1892808"/>
            <a:ext cx="361188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현재: Agent Chat · KPI · Simulation · Approval</a:t>
            </a:r>
            <a:endParaRPr lang="en-US" sz="10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6B7A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추가: ★ 입·출고 요청 데이터 (실시간 요청·긴급 표시)</a:t>
            </a:r>
            <a:endParaRPr lang="en-US" sz="1020" dirty="0"/>
          </a:p>
        </p:txBody>
      </p:sp>
      <p:sp>
        <p:nvSpPr>
          <p:cNvPr id="13" name="Text 11"/>
          <p:cNvSpPr/>
          <p:nvPr/>
        </p:nvSpPr>
        <p:spPr>
          <a:xfrm>
            <a:off x="4709160" y="269748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3A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입·출고 요청 데이터 (예시)</a:t>
            </a:r>
            <a:endParaRPr lang="en-US" sz="11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3017520"/>
          <a:ext cx="39776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31520"/>
                <a:gridCol w="1051560"/>
                <a:gridCol w="8686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요청번호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긴급여부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ORD-RT-014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16:00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긴급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INB-209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ORD-188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3A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18:00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긴급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WMS Agent 기획 요약</dc:title>
  <dc:subject>PptxGenJS Presentation</dc:subject>
  <dc:creator>PptxGenJS</dc:creator>
  <cp:lastModifiedBy>PptxGenJS</cp:lastModifiedBy>
  <cp:revision>1</cp:revision>
  <dcterms:created xsi:type="dcterms:W3CDTF">2026-06-17T01:28:54Z</dcterms:created>
  <dcterms:modified xsi:type="dcterms:W3CDTF">2026-06-17T01:28:54Z</dcterms:modified>
</cp:coreProperties>
</file>